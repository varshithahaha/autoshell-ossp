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9326880" y="-640080"/>
            <a:ext cx="3840480" cy="3840480"/>
          </a:xfrm>
          <a:prstGeom prst="ellipse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754880"/>
            <a:ext cx="3017520" cy="3017520"/>
          </a:xfrm>
          <a:prstGeom prst="ellipse">
            <a:avLst/>
          </a:prstGeom>
          <a:solidFill>
            <a:srgbClr val="43232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1417" y="22741"/>
            <a:ext cx="963168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 dirty="0">
                <a:solidFill>
                  <a:srgbClr val="EB4E6F"/>
                </a:solidFill>
                <a:latin typeface="Aptos"/>
              </a:rPr>
              <a:t>AUTOSHELL STUDIO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035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4F7"/>
                </a:solidFill>
                <a:latin typeface="Aptos"/>
              </a:rPr>
              <a:t>Final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2024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C9A9B4"/>
                </a:solidFill>
                <a:latin typeface="Aptos"/>
              </a:rPr>
              <a:t>Command Intelligence Web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03011"/>
            <a:ext cx="5212080" cy="233172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2367166"/>
            <a:ext cx="3200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EB4E6F"/>
                </a:solidFill>
                <a:latin typeface="Aptos"/>
              </a:rPr>
              <a:t>PROJECT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908481"/>
            <a:ext cx="422452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00" b="1" dirty="0">
                <a:solidFill>
                  <a:srgbClr val="FFF4F7"/>
                </a:solidFill>
                <a:latin typeface="Aptos"/>
              </a:rPr>
              <a:t>2510030183-</a:t>
            </a:r>
            <a:r>
              <a:rPr sz="2800" b="1" dirty="0">
                <a:solidFill>
                  <a:srgbClr val="FFF4F7"/>
                </a:solidFill>
                <a:latin typeface="Aptos"/>
              </a:rPr>
              <a:t>Varshitha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102" y="3405780"/>
            <a:ext cx="425146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00" b="1" dirty="0">
                <a:solidFill>
                  <a:srgbClr val="FFF4F7"/>
                </a:solidFill>
                <a:latin typeface="Aptos"/>
              </a:rPr>
              <a:t>2510030216-</a:t>
            </a:r>
            <a:r>
              <a:rPr sz="2800" b="1" dirty="0">
                <a:solidFill>
                  <a:srgbClr val="FFF4F7"/>
                </a:solidFill>
                <a:latin typeface="Aptos"/>
              </a:rPr>
              <a:t>Akhila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3" y="3922903"/>
            <a:ext cx="430097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00" b="1" dirty="0">
                <a:solidFill>
                  <a:srgbClr val="FFF4F7"/>
                </a:solidFill>
                <a:latin typeface="Aptos"/>
              </a:rPr>
              <a:t>2510030100-</a:t>
            </a:r>
            <a:r>
              <a:rPr sz="2800" b="1" dirty="0">
                <a:solidFill>
                  <a:srgbClr val="FFF4F7"/>
                </a:solidFill>
                <a:latin typeface="Aptos"/>
              </a:rPr>
              <a:t>Rishitha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828800"/>
            <a:ext cx="3931920" cy="3200400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233172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C62C4B"/>
                </a:solidFill>
                <a:latin typeface="Aptos"/>
              </a:rPr>
              <a:t>〉_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461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4F7"/>
                </a:solidFill>
                <a:latin typeface="Aptos"/>
              </a:rPr>
              <a:t>Natural language →
Safe command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343400"/>
            <a:ext cx="1645920" cy="32918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C62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31352" y="4379976"/>
            <a:ext cx="14996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C62C4B"/>
                </a:solidFill>
                <a:latin typeface="Aptos"/>
              </a:rPr>
              <a:t>AI ASSISTED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4F7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Why a smarter command workflow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32004"/>
          </a:xfrm>
          <a:prstGeom prst="rect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356616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1" y="1764792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76479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4E6F"/>
                </a:solidFill>
                <a:latin typeface="Aptos"/>
              </a:rPr>
              <a:t>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764792"/>
            <a:ext cx="2596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Command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167128"/>
            <a:ext cx="2596896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Users often know what they want to do, but may not remember the exact Linux command or sequence.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356616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07992" y="1764792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BD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76479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D7E25"/>
                </a:solidFill>
                <a:latin typeface="Aptos"/>
              </a:rPr>
              <a:t>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1764792"/>
            <a:ext cx="2596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Human mistakes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167128"/>
            <a:ext cx="2596896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Typos such as “gti” instead of “git” can interrupt a workflow and create unnecessary friction.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474720" cy="356616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11312" y="1764792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C62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76479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62C4B"/>
                </a:solidFill>
                <a:latin typeface="Aptos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1764792"/>
            <a:ext cx="2596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Safety risks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2167128"/>
            <a:ext cx="2596896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Destructive commands should be detected and blocked instead of being blindly accepted.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4068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4E6F"/>
                </a:solidFill>
                <a:latin typeface="Aptos"/>
              </a:rPr>
              <a:t>Core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376672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4F7"/>
                </a:solidFill>
                <a:latin typeface="Aptos"/>
              </a:rPr>
              <a:t>Make command-line work easier without removing user control.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4F7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What AutoShell Studio v3 is designed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32004"/>
          </a:xfrm>
          <a:prstGeom prst="rect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3429000" cy="178308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55648"/>
            <a:ext cx="384048" cy="384048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4F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173736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4F7"/>
                </a:solidFill>
                <a:latin typeface="Aptos"/>
              </a:rPr>
              <a:t>Translate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31136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Convert plain-English tasks into useful, explainable commands.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72768"/>
            <a:ext cx="3429000" cy="178308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755648"/>
            <a:ext cx="384048" cy="384048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4F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173736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4F7"/>
                </a:solidFill>
                <a:latin typeface="Aptos"/>
              </a:rPr>
              <a:t>Prevent mistakes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231136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Detect common command typos and suggest corrections.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72768"/>
            <a:ext cx="3429000" cy="178308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755648"/>
            <a:ext cx="384048" cy="384048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4F7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173736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4F7"/>
                </a:solidFill>
                <a:latin typeface="Aptos"/>
              </a:rPr>
              <a:t>Add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231136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Identify destructive patterns and block risky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21608"/>
            <a:ext cx="3429000" cy="178308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904488"/>
            <a:ext cx="384048" cy="384048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4F7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8620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4F7"/>
                </a:solidFill>
                <a:latin typeface="Aptos"/>
              </a:rPr>
              <a:t>Remember 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79976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Track project, user, time and result for every command.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21608"/>
            <a:ext cx="3429000" cy="178308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3904488"/>
            <a:ext cx="384048" cy="384048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4F7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388620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4F7"/>
                </a:solidFill>
                <a:latin typeface="Aptos"/>
              </a:rPr>
              <a:t>Support 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379976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Provide project members, workflows and activity 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721608"/>
            <a:ext cx="3429000" cy="178308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6488" y="3904488"/>
            <a:ext cx="384048" cy="384048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4F7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388620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4F7"/>
                </a:solidFill>
                <a:latin typeface="Aptos"/>
              </a:rPr>
              <a:t>Automate routines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379976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Bundle commands into workflows and scheduled checkpoints.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4F7"/>
                </a:solidFill>
                <a:latin typeface="Aptos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AutoShell connects user intent, command intelligence and project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32004"/>
          </a:xfrm>
          <a:prstGeom prst="rect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965960" cy="196596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2395728"/>
            <a:ext cx="1673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B4E6F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816352"/>
            <a:ext cx="16733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4F7"/>
                </a:solidFill>
                <a:latin typeface="Aptos"/>
              </a:rPr>
              <a:t>Plain-English task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3136392"/>
            <a:ext cx="320040" cy="0"/>
          </a:xfrm>
          <a:prstGeom prst="line">
            <a:avLst/>
          </a:prstGeom>
          <a:ln w="25400">
            <a:solidFill>
              <a:srgbClr val="EB4E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2148840"/>
            <a:ext cx="1965960" cy="196596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35224" y="2395728"/>
            <a:ext cx="1673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B4E6F"/>
                </a:solidFill>
                <a:latin typeface="Aptos"/>
              </a:rPr>
              <a:t>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2816352"/>
            <a:ext cx="16733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4F7"/>
                </a:solidFill>
                <a:latin typeface="Aptos"/>
              </a:rPr>
              <a:t>Suggestions + explanation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79" y="3136392"/>
            <a:ext cx="320041" cy="0"/>
          </a:xfrm>
          <a:prstGeom prst="line">
            <a:avLst/>
          </a:prstGeom>
          <a:ln w="25400">
            <a:solidFill>
              <a:srgbClr val="EB4E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148840"/>
            <a:ext cx="1965960" cy="196596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21224" y="2395728"/>
            <a:ext cx="1673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B4E6F"/>
                </a:solidFill>
                <a:latin typeface="Aptos"/>
              </a:rPr>
              <a:t>VALIDATOR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816352"/>
            <a:ext cx="16733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4F7"/>
                </a:solidFill>
                <a:latin typeface="Aptos"/>
              </a:rPr>
              <a:t>Typo + risk checks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79" y="3136392"/>
            <a:ext cx="320041" cy="0"/>
          </a:xfrm>
          <a:prstGeom prst="line">
            <a:avLst/>
          </a:prstGeom>
          <a:ln w="25400">
            <a:solidFill>
              <a:srgbClr val="EB4E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2148840"/>
            <a:ext cx="1965960" cy="196596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07224" y="2395728"/>
            <a:ext cx="1673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B4E6F"/>
                </a:solidFill>
                <a:latin typeface="Aptos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4" y="2816352"/>
            <a:ext cx="16733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4F7"/>
                </a:solidFill>
                <a:latin typeface="Aptos"/>
              </a:rPr>
              <a:t>Controlled execution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0" y="3136392"/>
            <a:ext cx="320040" cy="0"/>
          </a:xfrm>
          <a:prstGeom prst="line">
            <a:avLst/>
          </a:prstGeom>
          <a:ln w="25400">
            <a:solidFill>
              <a:srgbClr val="EB4E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46920" y="2148840"/>
            <a:ext cx="1965960" cy="196596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93224" y="2395728"/>
            <a:ext cx="1673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B4E6F"/>
                </a:solidFill>
                <a:latin typeface="Aptos"/>
              </a:rPr>
              <a:t>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3224" y="2816352"/>
            <a:ext cx="16733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4F7"/>
                </a:solidFill>
                <a:latin typeface="Aptos"/>
              </a:rPr>
              <a:t>Audit + project memory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4617720"/>
            <a:ext cx="8366760" cy="749808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03120" y="4818888"/>
            <a:ext cx="8001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4F7"/>
                </a:solidFill>
                <a:latin typeface="Aptos"/>
              </a:rPr>
              <a:t>Goal: make the command workflow explainable, safer and easier to manage.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4F7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React frontend + FastAPI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32004"/>
          </a:xfrm>
          <a:prstGeom prst="rect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1572768"/>
            <a:ext cx="10241280" cy="78638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70992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4E6F"/>
                </a:solidFill>
                <a:latin typeface="Aptos"/>
              </a:rPr>
              <a:t>Frontend —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09928"/>
            <a:ext cx="7406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Dashboard • Assistant • Terminal • History • Workflows • Scheduler • Team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331720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62C4B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624328"/>
            <a:ext cx="10241280" cy="78638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76148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4E6F"/>
                </a:solidFill>
                <a:latin typeface="Aptos"/>
              </a:rPr>
              <a:t>API —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61488"/>
            <a:ext cx="7406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Projects • Command suggestions • Command execution • History • Statistics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383280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62C4B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675887"/>
            <a:ext cx="10241280" cy="78638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81304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4E6F"/>
                </a:solidFill>
                <a:latin typeface="Aptos"/>
              </a:rPr>
              <a:t>Logic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813048"/>
            <a:ext cx="7406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Suggestion rules • typo correction • safety regex • project/activity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434840"/>
            <a:ext cx="457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62C4B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727448"/>
            <a:ext cx="10241280" cy="78638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486460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4E6F"/>
                </a:solidFill>
                <a:latin typeface="Aptos"/>
              </a:rPr>
              <a:t>Data /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864608"/>
            <a:ext cx="7406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Project state • command history • timestamps • user/project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8978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4E6F"/>
                </a:solidFill>
                <a:latin typeface="Aptos"/>
              </a:rPr>
              <a:t>Important implementation note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870448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The browser layer demonstrates command intelligence and safe execution logic; it does not claim direct Linux syscall access.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4F7"/>
                </a:solidFill>
                <a:latin typeface="Apto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Core functionality implemented in AutoShell Studio v3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32004"/>
          </a:xfrm>
          <a:prstGeom prst="rect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5166360" cy="118872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0392" y="1645920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4E6F"/>
                </a:solidFill>
                <a:latin typeface="Aptos"/>
              </a:rPr>
              <a:t>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645920"/>
            <a:ext cx="4288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Natural-language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48256"/>
            <a:ext cx="42885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Tasks such as “save my project” generate relevant command suggestions.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81328"/>
            <a:ext cx="5166360" cy="118872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82512" y="1645920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C62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4592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62C4B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645920"/>
            <a:ext cx="4288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Typo correction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2048256"/>
            <a:ext cx="42885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Recognizes common mistakes like gti → git and offers an apply-fix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62656"/>
            <a:ext cx="5166360" cy="118872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0392" y="3127248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127248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4E6F"/>
                </a:solidFill>
                <a:latin typeface="Aptos"/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127248"/>
            <a:ext cx="4288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Safety blocker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529584"/>
            <a:ext cx="42885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Blocks patterns including rm -rf, mkfs, shutdown, reboot, format and diskpart.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62656"/>
            <a:ext cx="5166360" cy="118872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82512" y="3127248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C62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127248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62C4B"/>
                </a:solidFill>
                <a:latin typeface="Aptos"/>
              </a:rPr>
              <a:t>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127248"/>
            <a:ext cx="4288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Interactive 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529584"/>
            <a:ext cx="42885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Provides a terminal-style workspace with visible execution results.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443984"/>
            <a:ext cx="5166360" cy="118872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0392" y="4608576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460857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4E6F"/>
                </a:solidFill>
                <a:latin typeface="Aptos"/>
              </a:rPr>
              <a:t>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608576"/>
            <a:ext cx="4288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Command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5010912"/>
            <a:ext cx="42885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Records command, executed form, project, user, time and status.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443984"/>
            <a:ext cx="5166360" cy="118872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82512" y="4608576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C62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460857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62C4B"/>
                </a:solidFill>
                <a:latin typeface="Aptos"/>
              </a:rPr>
              <a:t>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4608576"/>
            <a:ext cx="4288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Team + projects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5010912"/>
            <a:ext cx="42885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Supports individual/group projects, collaborators and project progress.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4F7"/>
                </a:solidFill>
                <a:latin typeface="Aptos"/>
              </a:rPr>
              <a:t>AI Command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From natural language to actionable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32004"/>
          </a:xfrm>
          <a:prstGeom prst="rect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6492240" cy="448056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1325880" cy="32918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" y="1819656"/>
            <a:ext cx="1179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B4E6F"/>
                </a:solidFill>
                <a:latin typeface="Aptos"/>
              </a:rPr>
              <a:t>EXAMPLE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5715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4F7"/>
                </a:solidFill>
                <a:latin typeface="Aptos"/>
              </a:rPr>
              <a:t>“I want to save my project”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A9B4"/>
                </a:solidFill>
                <a:latin typeface="Aptos"/>
              </a:rPr>
              <a:t>AutoShell suggests a sequence: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246120"/>
            <a:ext cx="5897880" cy="566928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346703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4F7"/>
                </a:solidFill>
                <a:latin typeface="Consolas"/>
              </a:rPr>
              <a:t>git add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46703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Stage current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64991"/>
            <a:ext cx="502920" cy="32918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401568"/>
            <a:ext cx="3566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B4E6F"/>
                </a:solidFill>
                <a:latin typeface="Aptos"/>
              </a:rPr>
              <a:t>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995928"/>
            <a:ext cx="5897880" cy="566928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096512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4F7"/>
                </a:solidFill>
                <a:latin typeface="Consolas"/>
              </a:rPr>
              <a:t>git commit -m "Update project"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96512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Create a checkpoint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4114800"/>
            <a:ext cx="502920" cy="32918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BD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4151376"/>
            <a:ext cx="3566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D7E25"/>
                </a:solidFill>
                <a:latin typeface="Aptos"/>
              </a:rPr>
              <a:t>MEDIUM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745736"/>
            <a:ext cx="5897880" cy="566928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8463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4F7"/>
                </a:solidFill>
                <a:latin typeface="Consolas"/>
              </a:rPr>
              <a:t>git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84632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Upload committed changes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4864607"/>
            <a:ext cx="502920" cy="32918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BD7E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4901183"/>
            <a:ext cx="3566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D7E25"/>
                </a:solidFill>
                <a:latin typeface="Aptos"/>
              </a:rPr>
              <a:t>MEDIUM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508760"/>
            <a:ext cx="3977639" cy="4480560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How it 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4231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9232F"/>
                </a:solidFill>
                <a:latin typeface="Aptos"/>
              </a:defRPr>
            </a:pPr>
            <a:r>
              <a:rPr>
                <a:solidFill/>
              </a:rPr>
              <a:t>• User describes the intended task.</a:t>
            </a:r>
          </a:p>
          <a:p>
            <a:pPr>
              <a:spcAft>
                <a:spcPts val="800"/>
              </a:spcAft>
              <a:defRPr sz="1100">
                <a:solidFill>
                  <a:srgbClr val="49232F"/>
                </a:solidFill>
                <a:latin typeface="Aptos"/>
              </a:defRPr>
            </a:pPr>
            <a:r>
              <a:rPr>
                <a:solidFill/>
              </a:rPr>
              <a:t>• Suggestion rules match keywords.</a:t>
            </a:r>
          </a:p>
          <a:p>
            <a:pPr>
              <a:spcAft>
                <a:spcPts val="800"/>
              </a:spcAft>
              <a:defRPr sz="1100">
                <a:solidFill>
                  <a:srgbClr val="49232F"/>
                </a:solidFill>
                <a:latin typeface="Aptos"/>
              </a:defRPr>
            </a:pPr>
            <a:r>
              <a:rPr>
                <a:solidFill/>
              </a:rPr>
              <a:t>• Commands are presented with purpose and risk.</a:t>
            </a:r>
          </a:p>
          <a:p>
            <a:pPr>
              <a:spcAft>
                <a:spcPts val="800"/>
              </a:spcAft>
              <a:defRPr sz="1100">
                <a:solidFill>
                  <a:srgbClr val="49232F"/>
                </a:solidFill>
                <a:latin typeface="Aptos"/>
              </a:defRPr>
            </a:pPr>
            <a:r>
              <a:rPr>
                <a:solidFill/>
              </a:rPr>
              <a:t>• User chooses a command before running it.</a:t>
            </a:r>
          </a:p>
          <a:p>
            <a:pPr>
              <a:spcAft>
                <a:spcPts val="800"/>
              </a:spcAft>
              <a:defRPr sz="1100">
                <a:solidFill>
                  <a:srgbClr val="49232F"/>
                </a:solidFill>
                <a:latin typeface="Aptos"/>
              </a:defRPr>
            </a:pPr>
            <a:r>
              <a:rPr>
                <a:solidFill/>
              </a:rPr>
              <a:t>• Execution result is recorded in history.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1663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Explainable by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4F7"/>
                </a:solidFill>
                <a:latin typeface="Aptos"/>
              </a:rPr>
              <a:t>Safety &amp; Typo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Two layers that reduce avoidable command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32004"/>
          </a:xfrm>
          <a:prstGeom prst="rect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303520" cy="429768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4E6F"/>
                </a:solidFill>
                <a:latin typeface="Aptos"/>
              </a:rPr>
              <a:t>1  TYPO CORRECTION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User enters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1635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4F7"/>
                </a:solidFill>
                <a:latin typeface="Consolas"/>
              </a:rPr>
              <a:t>gti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0156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D7E25"/>
                </a:solidFill>
                <a:latin typeface="Aptos"/>
              </a:rPr>
              <a:t>↓  detected as a known command typo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2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Suggested 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62C4B"/>
                </a:solidFill>
                <a:latin typeface="Consolas"/>
              </a:rPr>
              <a:t>git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892040"/>
            <a:ext cx="1143000" cy="32918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C62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4928616"/>
            <a:ext cx="9966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C62C4B"/>
                </a:solidFill>
                <a:latin typeface="Aptos"/>
              </a:rPr>
              <a:t>APPLY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257800" cy="4297680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C62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84708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62C4B"/>
                </a:solidFill>
                <a:latin typeface="Aptos"/>
              </a:rPr>
              <a:t>2  SAFETY BLOCKER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1460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Example risky 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16352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4F7"/>
                </a:solidFill>
                <a:latin typeface="Consolas"/>
              </a:rPr>
              <a:t>rm -rf 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0156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62C4B"/>
                </a:solidFill>
                <a:latin typeface="Aptos"/>
              </a:rPr>
              <a:t>×  matched by destructive-command policy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931920"/>
            <a:ext cx="4434840" cy="82296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C62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4133087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62C4B"/>
                </a:solidFill>
                <a:latin typeface="Aptos"/>
              </a:rPr>
              <a:t>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114800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Safety policy prevented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4F7"/>
                </a:solidFill>
                <a:latin typeface="Aptos"/>
              </a:rPr>
              <a:t>Project Management &amp;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Keeping command work connected to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32004"/>
          </a:xfrm>
          <a:prstGeom prst="rect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166360" cy="169164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0392" y="1719072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71907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4E6F"/>
                </a:solidFill>
                <a:latin typeface="Aptos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19072"/>
            <a:ext cx="4288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121408"/>
            <a:ext cx="4288536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Create individual or group projects and track progress.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166360" cy="169164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82512" y="1719072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C62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71907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62C4B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719072"/>
            <a:ext cx="4288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Project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2121408"/>
            <a:ext cx="4288536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Store project, user, time and result with command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5166360" cy="169164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0392" y="3730752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73075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4E6F"/>
                </a:solidFill>
                <a:latin typeface="Aptos"/>
              </a:rPr>
              <a:t>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730752"/>
            <a:ext cx="4288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Team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33088"/>
            <a:ext cx="4288536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Show contributors and their command activity.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66160"/>
            <a:ext cx="5166360" cy="169164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82512" y="3730752"/>
            <a:ext cx="420624" cy="420624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730752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4E6F"/>
                </a:solidFill>
                <a:latin typeface="Aptos"/>
              </a:rPr>
              <a:t>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730752"/>
            <a:ext cx="4288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Dashboard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4133088"/>
            <a:ext cx="4288536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Surface progress, command counts and safety events.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532120"/>
            <a:ext cx="2423160" cy="713232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56509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2C4B"/>
                </a:solidFill>
                <a:latin typeface="Aptos"/>
              </a:rPr>
              <a:t>72%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565099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demo project progress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5532120"/>
            <a:ext cx="2423160" cy="713232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75887" y="56509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2C4B"/>
                </a:solidFill>
                <a:latin typeface="Aptos"/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565099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seeded commands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532120"/>
            <a:ext cx="2423160" cy="713232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9088" y="56509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2C4B"/>
                </a:solidFill>
                <a:latin typeface="Aptos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565099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correct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5532120"/>
            <a:ext cx="2423160" cy="713232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62288" y="565099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62C4B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232" y="565099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caught/wrong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4F7"/>
                </a:solidFill>
                <a:latin typeface="Aptos"/>
              </a:rPr>
              <a:t>Workflows &amp;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Turning repeated command sequences into routines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32004"/>
          </a:xfrm>
          <a:prstGeom prst="rect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6492240" cy="448056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Reusable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Save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3172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Consolas"/>
              </a:rPr>
              <a:t>git status  →  git add .  →  git commit -m "Update project"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New project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42900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Consolas"/>
              </a:rPr>
              <a:t>mkdir Project  →  mkdir src docs tests  →  touch README.md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26279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Project health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4526279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Consolas"/>
              </a:rPr>
              <a:t>git status  →  df -h  →  git branch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554480"/>
            <a:ext cx="3977639" cy="4480560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1828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Scheduler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423160"/>
            <a:ext cx="3246120" cy="713232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28431" y="2532888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4F7"/>
                </a:solidFill>
                <a:latin typeface="Aptos"/>
              </a:rPr>
              <a:t>Daily project checkpoint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2807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Every day • 22:00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61320" y="2606040"/>
            <a:ext cx="502920" cy="329184"/>
          </a:xfrm>
          <a:prstGeom prst="roundRect">
            <a:avLst/>
          </a:prstGeom>
          <a:solidFill>
            <a:srgbClr val="EFFAF4"/>
          </a:solidFill>
          <a:ln w="12700">
            <a:solidFill>
              <a:srgbClr val="319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34472" y="2642616"/>
            <a:ext cx="3566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19466"/>
                </a:solidFill>
                <a:latin typeface="Aptos"/>
              </a:rPr>
              <a:t>ACTIVE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337560"/>
            <a:ext cx="3246120" cy="713232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28431" y="3447288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4F7"/>
                </a:solidFill>
                <a:latin typeface="Aptos"/>
              </a:rPr>
              <a:t>Weekly dependency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37216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Every Sunday • 18:00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61320" y="3520440"/>
            <a:ext cx="502920" cy="329184"/>
          </a:xfrm>
          <a:prstGeom prst="roundRect">
            <a:avLst/>
          </a:prstGeom>
          <a:solidFill>
            <a:srgbClr val="EFFAF4"/>
          </a:solidFill>
          <a:ln w="12700">
            <a:solidFill>
              <a:srgbClr val="319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34472" y="3557016"/>
            <a:ext cx="3566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19466"/>
                </a:solidFill>
                <a:latin typeface="Aptos"/>
              </a:rPr>
              <a:t>ACTIVE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251960"/>
            <a:ext cx="3246120" cy="713232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28431" y="4361688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4F7"/>
                </a:solidFill>
                <a:latin typeface="Aptos"/>
              </a:rPr>
              <a:t>New 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46360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Every day • 20:00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61320" y="4434840"/>
            <a:ext cx="502920" cy="329184"/>
          </a:xfrm>
          <a:prstGeom prst="roundRect">
            <a:avLst/>
          </a:prstGeom>
          <a:solidFill>
            <a:srgbClr val="EFFAF4"/>
          </a:solidFill>
          <a:ln w="12700">
            <a:solidFill>
              <a:srgbClr val="319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34472" y="4471416"/>
            <a:ext cx="3566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19466"/>
                </a:solidFill>
                <a:latin typeface="Aptos"/>
              </a:rPr>
              <a:t>ACTIVE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349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Benefit: less repetitive manual work and more consistent checkpoints.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4F7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Technologies used in the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32004"/>
          </a:xfrm>
          <a:prstGeom prst="rect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29000" cy="169164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373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4E6F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React 18.3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334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Interactive single-page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429000" cy="169164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7373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4E6F"/>
                </a:solidFill>
                <a:latin typeface="Aptos"/>
              </a:rPr>
              <a:t>UI / Icons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1762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Lucide React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6334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Consistent interface icons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54480"/>
            <a:ext cx="3429000" cy="169164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7373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4E6F"/>
                </a:solidFill>
                <a:latin typeface="Aptos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1762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6334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REST API for project and command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11880"/>
            <a:ext cx="3429000" cy="169164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794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4E6F"/>
                </a:solidFill>
                <a:latin typeface="Aptos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336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Pydantic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6908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Request models and backend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11880"/>
            <a:ext cx="3429000" cy="169164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7" y="3794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4E6F"/>
                </a:solidFill>
                <a:latin typeface="Aptos"/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7" y="42336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Uvicorn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6908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ASGI server for the FastAPI 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611880"/>
            <a:ext cx="3429000" cy="169164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3794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4E6F"/>
                </a:solidFill>
                <a:latin typeface="Aptos"/>
              </a:rPr>
              <a:t>Styling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2336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4F7"/>
                </a:solidFill>
                <a:latin typeface="Aptos"/>
              </a:rPr>
              <a:t>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6908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A9B4"/>
                </a:solidFill>
                <a:latin typeface="Aptos"/>
              </a:rPr>
              <a:t>Glassmorphism interface and responsive layout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5715000"/>
            <a:ext cx="8458200" cy="502920"/>
          </a:xfrm>
          <a:prstGeom prst="roundRect">
            <a:avLst/>
          </a:prstGeom>
          <a:solidFill>
            <a:srgbClr val="43232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11680" y="5843016"/>
            <a:ext cx="8092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4F7"/>
                </a:solidFill>
                <a:latin typeface="Aptos"/>
              </a:rPr>
              <a:t>Architecture focus: modular UI + clear API endpoints + safety-aware command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3840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4F7"/>
                </a:solidFill>
                <a:latin typeface="Aptos"/>
              </a:rPr>
              <a:t>Final Review /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A9B4"/>
                </a:solidFill>
                <a:latin typeface="Aptos"/>
              </a:rPr>
              <a:t>A practical walkthrough of the implemented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32004"/>
          </a:xfrm>
          <a:prstGeom prst="rect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44752"/>
            <a:ext cx="5166360" cy="69494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91056"/>
            <a:ext cx="438912" cy="256032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4F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2184" y="1572768"/>
            <a:ext cx="4069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4F7"/>
                </a:solidFill>
                <a:latin typeface="Aptos"/>
              </a:rPr>
              <a:t>Create Group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44752"/>
            <a:ext cx="5166360" cy="69494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591056"/>
            <a:ext cx="438912" cy="256032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4F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4304" y="1572768"/>
            <a:ext cx="4069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4F7"/>
                </a:solidFill>
                <a:latin typeface="Aptos"/>
              </a:rPr>
              <a:t>Assistant: “save my project”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59152"/>
            <a:ext cx="5166360" cy="69494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505456"/>
            <a:ext cx="438912" cy="256032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4F7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2487168"/>
            <a:ext cx="4069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4F7"/>
                </a:solidFill>
                <a:latin typeface="Aptos"/>
              </a:rPr>
              <a:t>Review git suggestions + risk labels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59152"/>
            <a:ext cx="5166360" cy="69494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505456"/>
            <a:ext cx="438912" cy="256032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4F7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2487168"/>
            <a:ext cx="4069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4F7"/>
                </a:solidFill>
                <a:latin typeface="Aptos"/>
              </a:rPr>
              <a:t>Enter “gti status” → apply typo fix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73552"/>
            <a:ext cx="5166360" cy="69494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419856"/>
            <a:ext cx="438912" cy="256032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4F7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2184" y="3401568"/>
            <a:ext cx="4069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4F7"/>
                </a:solidFill>
                <a:latin typeface="Aptos"/>
              </a:rPr>
              <a:t>Run “git status” in Terminal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73552"/>
            <a:ext cx="5166360" cy="69494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3419856"/>
            <a:ext cx="438912" cy="256032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4F7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304" y="3401568"/>
            <a:ext cx="4069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4F7"/>
                </a:solidFill>
                <a:latin typeface="Aptos"/>
              </a:rPr>
              <a:t>Open Command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87952"/>
            <a:ext cx="5166360" cy="69494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4334256"/>
            <a:ext cx="438912" cy="256032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4F7"/>
                </a:solidFill>
                <a:latin typeface="Apto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2184" y="4315968"/>
            <a:ext cx="4069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4F7"/>
                </a:solidFill>
                <a:latin typeface="Aptos"/>
              </a:rPr>
              <a:t>Show Team Activity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87952"/>
            <a:ext cx="5166360" cy="69494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4334256"/>
            <a:ext cx="438912" cy="256032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4F7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4315968"/>
            <a:ext cx="4069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4F7"/>
                </a:solidFill>
                <a:latin typeface="Aptos"/>
              </a:rPr>
              <a:t>Open Workflows → Save project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102352"/>
            <a:ext cx="5166360" cy="69494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5248656"/>
            <a:ext cx="438912" cy="256032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4F7"/>
                </a:solidFill>
                <a:latin typeface="Aptos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2184" y="5230368"/>
            <a:ext cx="4069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4F7"/>
                </a:solidFill>
                <a:latin typeface="Aptos"/>
              </a:rPr>
              <a:t>Show Scheduler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102352"/>
            <a:ext cx="5166360" cy="694944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5248656"/>
            <a:ext cx="438912" cy="256032"/>
          </a:xfrm>
          <a:prstGeom prst="rect">
            <a:avLst/>
          </a:prstGeom>
          <a:solidFill>
            <a:srgbClr val="EB4E6F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4F7"/>
                </a:solidFill>
                <a:latin typeface="Apto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4304" y="5230368"/>
            <a:ext cx="4069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4F7"/>
                </a:solidFill>
                <a:latin typeface="Aptos"/>
              </a:rPr>
              <a:t>Test “rm -rf /” → Safety Block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6172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C62C4B"/>
                </a:solidFill>
                <a:latin typeface="Aptos"/>
              </a:rPr>
              <a:t>This sequence demonstrates the main value proposition: intent → intelligence → safety → traceability.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1695" cy="2880"/>
          </a:xfrm>
          <a:prstGeom prst="rect">
            <a:avLst/>
          </a:prstGeom>
          <a:solidFill>
            <a:srgbClr val="EB4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9052560" y="-731520"/>
            <a:ext cx="3749039" cy="3749039"/>
          </a:xfrm>
          <a:prstGeom prst="ellipse">
            <a:avLst/>
          </a:prstGeom>
          <a:solidFill>
            <a:srgbClr val="FFCAD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846320"/>
            <a:ext cx="2834640" cy="2834640"/>
          </a:xfrm>
          <a:prstGeom prst="ellipse">
            <a:avLst/>
          </a:prstGeom>
          <a:solidFill>
            <a:srgbClr val="43232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4E6F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0040"/>
            <a:ext cx="5486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4F7"/>
                </a:solidFill>
                <a:latin typeface="Aptos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297680"/>
          </a:xfrm>
          <a:prstGeom prst="roundRect">
            <a:avLst/>
          </a:prstGeom>
          <a:solidFill>
            <a:srgbClr val="27191F"/>
          </a:solidFill>
          <a:ln w="12700">
            <a:solidFill>
              <a:srgbClr val="693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C62C4B"/>
                </a:solidFill>
                <a:latin typeface="Aptos"/>
              </a:rPr>
              <a:t>AutoShell Studio v3 brings the command line closer to the way people think.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932688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9232F"/>
                </a:solidFill>
                <a:latin typeface="Aptos"/>
              </a:defRPr>
            </a:pPr>
            <a:r>
              <a:rPr sz="2000" dirty="0">
                <a:solidFill>
                  <a:srgbClr val="FF0000"/>
                </a:solidFill>
              </a:rPr>
              <a:t>• Natural-language intent is translated into useful command suggestions.</a:t>
            </a:r>
          </a:p>
          <a:p>
            <a:pPr>
              <a:spcAft>
                <a:spcPts val="800"/>
              </a:spcAft>
              <a:defRPr sz="1300">
                <a:solidFill>
                  <a:srgbClr val="49232F"/>
                </a:solidFill>
                <a:latin typeface="Aptos"/>
              </a:defRPr>
            </a:pPr>
            <a:r>
              <a:rPr sz="2000" dirty="0">
                <a:solidFill>
                  <a:srgbClr val="FF0000"/>
                </a:solidFill>
              </a:rPr>
              <a:t>• Typos are caught early and destructive command patterns are blocked.</a:t>
            </a:r>
          </a:p>
          <a:p>
            <a:pPr>
              <a:spcAft>
                <a:spcPts val="800"/>
              </a:spcAft>
              <a:defRPr sz="1300">
                <a:solidFill>
                  <a:srgbClr val="49232F"/>
                </a:solidFill>
                <a:latin typeface="Aptos"/>
              </a:defRPr>
            </a:pPr>
            <a:r>
              <a:rPr sz="2000" dirty="0">
                <a:solidFill>
                  <a:srgbClr val="FF0000"/>
                </a:solidFill>
              </a:rPr>
              <a:t>• Projects, history and team activity make command work traceable.</a:t>
            </a:r>
          </a:p>
          <a:p>
            <a:pPr>
              <a:spcAft>
                <a:spcPts val="800"/>
              </a:spcAft>
              <a:defRPr sz="1300">
                <a:solidFill>
                  <a:srgbClr val="49232F"/>
                </a:solidFill>
                <a:latin typeface="Aptos"/>
              </a:defRPr>
            </a:pPr>
            <a:r>
              <a:rPr sz="2000" dirty="0">
                <a:solidFill>
                  <a:srgbClr val="FF0000"/>
                </a:solidFill>
              </a:rPr>
              <a:t>• Workflows and scheduling reduce repetitive project maintenance.</a:t>
            </a:r>
          </a:p>
          <a:p>
            <a:pPr>
              <a:spcAft>
                <a:spcPts val="800"/>
              </a:spcAft>
              <a:defRPr sz="1300">
                <a:solidFill>
                  <a:srgbClr val="49232F"/>
                </a:solidFill>
                <a:latin typeface="Aptos"/>
              </a:defRPr>
            </a:pPr>
            <a:r>
              <a:rPr sz="2000" dirty="0">
                <a:solidFill>
                  <a:srgbClr val="FF0000"/>
                </a:solidFill>
              </a:rPr>
              <a:t>• The final system is a practical foundation for a safer, more explainable command-intelligence platform</a:t>
            </a:r>
            <a:r>
              <a:rPr sz="2000" dirty="0">
                <a:solidFill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92531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B4E6F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630936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C9A9B4"/>
                </a:solidFill>
                <a:latin typeface="Aptos"/>
              </a:rPr>
              <a:t>AutoShell Studio v3  •  Final Review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C9A9B4"/>
                </a:solidFill>
                <a:latin typeface="Aptos"/>
              </a:rPr>
              <a:t>AutoShell Studio v3  •  Final Review 3  • 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1117</Words>
  <Application>Microsoft Office PowerPoint</Application>
  <PresentationFormat>Widescreen</PresentationFormat>
  <Paragraphs>247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Varshitha Jagarapu</cp:lastModifiedBy>
  <cp:revision>3</cp:revision>
  <dcterms:created xsi:type="dcterms:W3CDTF">2013-01-27T09:14:16Z</dcterms:created>
  <dcterms:modified xsi:type="dcterms:W3CDTF">2026-10-08T19:44:38Z</dcterms:modified>
  <cp:category/>
</cp:coreProperties>
</file>